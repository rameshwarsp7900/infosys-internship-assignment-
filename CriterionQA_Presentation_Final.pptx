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38460" y="6041898"/>
            <a:ext cx="502920" cy="352044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37876" y="5971489"/>
            <a:ext cx="704088" cy="492862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7292" y="5901080"/>
            <a:ext cx="905256" cy="633679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36708" y="5830672"/>
            <a:ext cx="1106424" cy="774497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Criterion QA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Customer Support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Auditor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16352" y="4160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Quality Metrics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9744" y="4160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4160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96528" y="4160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796528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Rameshwar Pawar  ·  Infosys Internship 2026  ·  March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4754880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8440" y="4663440"/>
            <a:ext cx="146304" cy="146304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07040" y="4828032"/>
            <a:ext cx="173736" cy="173736"/>
          </a:xfrm>
          <a:prstGeom prst="ellipse">
            <a:avLst/>
          </a:prstGeom>
          <a:solidFill>
            <a:srgbClr val="E8D5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97180" y="281178"/>
            <a:ext cx="502920" cy="352044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" y="210769"/>
            <a:ext cx="704088" cy="492862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" y="140360"/>
            <a:ext cx="905256" cy="633679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" y="69952"/>
            <a:ext cx="1106424" cy="774497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743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22960" y="1417320"/>
            <a:ext cx="777240" cy="777240"/>
          </a:xfrm>
          <a:prstGeom prst="ellipse">
            <a:avLst/>
          </a:prstGeom>
          <a:solidFill>
            <a:srgbClr val="B0D0DC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417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covers only 5% of calls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777240" cy="777240"/>
          </a:xfrm>
          <a:prstGeom prst="ellipse">
            <a:avLst/>
          </a:prstGeom>
          <a:solidFill>
            <a:srgbClr val="E8D5C4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1417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QA — automated, AI-powered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3246120"/>
            <a:ext cx="777240" cy="777240"/>
          </a:xfrm>
          <a:prstGeom prst="ellipse">
            <a:avLst/>
          </a:prstGeom>
          <a:solidFill>
            <a:srgbClr val="E8D5C4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Transcription, scoring, alerts, RAG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246120"/>
            <a:ext cx="777240" cy="777240"/>
          </a:xfrm>
          <a:prstGeom prst="ellipse">
            <a:avLst/>
          </a:prstGeom>
          <a:solidFill>
            <a:srgbClr val="B0D0DC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system design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4983480"/>
            <a:ext cx="777240" cy="777240"/>
          </a:xfrm>
          <a:prstGeom prst="ellipse">
            <a:avLst/>
          </a:prstGeom>
          <a:solidFill>
            <a:srgbClr val="B0D0DC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4983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call, batch processing, chatbot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4983480"/>
            <a:ext cx="777240" cy="777240"/>
          </a:xfrm>
          <a:prstGeom prst="ellipse">
            <a:avLst/>
          </a:prstGeom>
          <a:solidFill>
            <a:srgbClr val="E8D5C4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4983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Roadmap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metrics and real-time future vision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200400" cy="274320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029200"/>
            <a:ext cx="2194560" cy="2011680"/>
          </a:xfrm>
          <a:prstGeom prst="ellipse">
            <a:avLst/>
          </a:prstGeom>
          <a:solidFill>
            <a:srgbClr val="B0D0D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quality is invisible at scale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0" y="914400"/>
            <a:ext cx="2926080" cy="292608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503920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unreviewed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4081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Monitoring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17556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teams can review fewer than 5% of calls. The other 95% receive zero quality oversight.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487168"/>
            <a:ext cx="685800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5968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Data-Driven Coaching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25880" y="2944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subjective — managers rely on gut feeling, not consistent measurable metrics.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675888"/>
            <a:ext cx="685800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785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Feedback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41330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discovered weeks later, too late to coach the agent or save the customer.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864608"/>
            <a:ext cx="685800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83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49743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Risk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25880" y="53218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mishandled call can lose a customer worth $500+ in lifetime value — at scale this is catastrophic.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QA — automated AI quality scoring for every single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3108960" cy="2926080"/>
          </a:xfrm>
          <a:prstGeom prst="ellipse">
            <a:avLst/>
          </a:prstGeom>
          <a:solidFill>
            <a:srgbClr val="B0D0DC">
              <a:alpha val="5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Auto-Transcribe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9900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MP3/M4A/WAV. Deepgram nova-2 transcribes with Agent/Customer speaker diarization in seconds.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508760"/>
            <a:ext cx="3108960" cy="2926080"/>
          </a:xfrm>
          <a:prstGeom prst="ellipse">
            <a:avLst/>
          </a:prstGeom>
          <a:solidFill>
            <a:srgbClr val="E8D5C4">
              <a:alpha val="5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519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Quality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29900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metrics scored by Claude 3 Haiku: Empathy, Resolution, Compliance, F1 Score and more.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508760"/>
            <a:ext cx="3108960" cy="2926080"/>
          </a:xfrm>
          <a:prstGeom prst="ellipse">
            <a:avLst/>
          </a:prstGeom>
          <a:solidFill>
            <a:srgbClr val="B0D0DC">
              <a:alpha val="5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6352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29900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agent's performance over time. Spot trends, compare teams, drill into individual calls.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3108960" cy="2926080"/>
          </a:xfrm>
          <a:prstGeom prst="ellipse">
            <a:avLst/>
          </a:prstGeom>
          <a:solidFill>
            <a:srgbClr val="E8D5C4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6868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0932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escalations, profanity, policy violations — supervisors are notified before issues escalate.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3611880"/>
            <a:ext cx="3108960" cy="2926080"/>
          </a:xfrm>
          <a:prstGeom prst="ellipse">
            <a:avLst/>
          </a:prstGeom>
          <a:solidFill>
            <a:srgbClr val="B0D0DC">
              <a:alpha val="5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25196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RAG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50932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company policy docs. Every call automatically checked for compliance via semantic search.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3611880"/>
            <a:ext cx="3108960" cy="2926080"/>
          </a:xfrm>
          <a:prstGeom prst="ellipse">
            <a:avLst/>
          </a:prstGeom>
          <a:solidFill>
            <a:srgbClr val="E8D5C4">
              <a:alpha val="5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6352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50932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up to 500 calls simultaneously. One-click to get team-wide insights with export in CSV/JSON/ZIP.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389120"/>
            <a:ext cx="4114800" cy="320040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36576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-731520"/>
            <a:ext cx="2286000" cy="182880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upload to insights in under 30 seconds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194560" cy="2194560"/>
          </a:xfrm>
          <a:prstGeom prst="ellipse">
            <a:avLst/>
          </a:prstGeom>
          <a:solidFill>
            <a:srgbClr val="B0D0DC">
              <a:alpha val="70000"/>
            </a:srgbClr>
          </a:solidFill>
          <a:ln w="19050">
            <a:solidFill>
              <a:srgbClr val="4D8FA8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· M4A · WAV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TXT chat log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200MB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1463040"/>
            <a:ext cx="2194560" cy="2194560"/>
          </a:xfrm>
          <a:prstGeom prst="ellipse">
            <a:avLst/>
          </a:prstGeom>
          <a:solidFill>
            <a:srgbClr val="E8D5C4">
              <a:alpha val="70000"/>
            </a:srgbClr>
          </a:solidFill>
          <a:ln w="19050">
            <a:solidFill>
              <a:srgbClr val="C9846B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94960" y="1463040"/>
            <a:ext cx="2194560" cy="2194560"/>
          </a:xfrm>
          <a:prstGeom prst="ellipse">
            <a:avLst/>
          </a:prstGeom>
          <a:solidFill>
            <a:srgbClr val="B0D0DC">
              <a:alpha val="70000"/>
            </a:srgbClr>
          </a:solidFill>
          <a:ln w="19050">
            <a:solidFill>
              <a:srgbClr val="4D8FA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148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Haiku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quality metrics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calculation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8952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863840" y="1463040"/>
            <a:ext cx="2194560" cy="2194560"/>
          </a:xfrm>
          <a:prstGeom prst="ellipse">
            <a:avLst/>
          </a:prstGeom>
          <a:solidFill>
            <a:srgbClr val="E8D5C4">
              <a:alpha val="70000"/>
            </a:srgbClr>
          </a:solidFill>
          <a:ln w="19050">
            <a:solidFill>
              <a:srgbClr val="C9846B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63840" y="2148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Supabase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history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332720" y="1463040"/>
            <a:ext cx="2194560" cy="2194560"/>
          </a:xfrm>
          <a:prstGeom prst="ellipse">
            <a:avLst/>
          </a:prstGeom>
          <a:solidFill>
            <a:srgbClr val="B0D0DC">
              <a:alpha val="70000"/>
            </a:srgbClr>
          </a:solidFill>
          <a:ln w="19050">
            <a:solidFill>
              <a:srgbClr val="4D8FA8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332720" y="21488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32720" y="25420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Alerts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3977640"/>
            <a:ext cx="7589520" cy="640080"/>
          </a:xfrm>
          <a:prstGeom prst="roundRect">
            <a:avLst>
              <a:gd name="adj" fmla="val 17143"/>
            </a:avLst>
          </a:prstGeom>
          <a:solidFill>
            <a:srgbClr val="B0D0DC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400507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Audio files &gt;10 minutes are auto-chunked into parallel segments and merged — no manual splitting required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200400" cy="274320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029200"/>
            <a:ext cx="2194560" cy="2011680"/>
          </a:xfrm>
          <a:prstGeom prst="ellipse">
            <a:avLst/>
          </a:prstGeom>
          <a:solidFill>
            <a:srgbClr val="B0D0D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Quality Metrics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scored across 10 dimensions by Claude 3 Haiku — scale 1–10 + F1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8.2/10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53312" y="14630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53312" y="1792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understanding &amp; compassion shown by agent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8.7/10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3312" y="2514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53312" y="28437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grammar, vocabulary and tone of voice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66160"/>
            <a:ext cx="594360" cy="59436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7.8/10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53312" y="3566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53312" y="38953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in solving the customer's problem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37083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8.5/10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4617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353312" y="49469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to company policy and scripts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542239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669280"/>
            <a:ext cx="594360" cy="59436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69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8.0/10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53312" y="5669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353312" y="59984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customer satisfaction (CSAT) score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146304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9.0/10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22592" y="14630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Professionalism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22592" y="1792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conduct, patience and composure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226771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514600"/>
            <a:ext cx="594360" cy="59436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7.5/10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22592" y="2514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22592" y="28437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response and resolution without wasted time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331927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56616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9.2/10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3566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Reduction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22592" y="38953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neutral treatment regardless of background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00800" y="437083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4617720"/>
            <a:ext cx="594360" cy="59436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8.1/10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22592" y="4617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IQ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022592" y="49469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emotional cues and adapting accordingly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00800" y="5422392"/>
            <a:ext cx="5212080" cy="0"/>
          </a:xfrm>
          <a:prstGeom prst="line">
            <a:avLst/>
          </a:prstGeom>
          <a:noFill/>
          <a:ln w="10160">
            <a:solidFill>
              <a:srgbClr val="E8D5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5669280"/>
            <a:ext cx="594360" cy="59436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5669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22592" y="5669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 Score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022592" y="59984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× Recall (0.0–1.0 scale)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754380"/>
            <a:ext cx="457200" cy="320040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0" y="690372"/>
            <a:ext cx="640080" cy="448056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9960" y="626364"/>
            <a:ext cx="822960" cy="576072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0" y="562356"/>
            <a:ext cx="1005840" cy="704088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8686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modular Flask API with AI integrations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417320"/>
            <a:ext cx="10607040" cy="1097280"/>
          </a:xfrm>
          <a:prstGeom prst="rect">
            <a:avLst/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17320"/>
            <a:ext cx="1463040" cy="1097280"/>
          </a:xfrm>
          <a:prstGeom prst="rect">
            <a:avLst/>
          </a:prstGeom>
          <a:solidFill>
            <a:srgbClr val="B0D0DC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155448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155448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55448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155448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554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0" y="2514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8FA8"/>
                </a:solidFill>
              </a:rPr>
              <a:t>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743200"/>
            <a:ext cx="10607040" cy="1097280"/>
          </a:xfrm>
          <a:prstGeom prst="rect">
            <a:avLst/>
          </a:prstGeom>
          <a:solidFill>
            <a:srgbClr val="E8D5C4">
              <a:alpha val="50000"/>
            </a:srgbClr>
          </a:solidFill>
          <a:ln w="1016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743200"/>
            <a:ext cx="1463040" cy="1097280"/>
          </a:xfrm>
          <a:prstGeom prst="rect">
            <a:avLst/>
          </a:prstGeom>
          <a:solidFill>
            <a:srgbClr val="E8D5C4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743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0" y="288036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+ Flask-CORS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288036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Detector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288036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TranscriptionPipeline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06840" y="288036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(async)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0" y="3840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8FA8"/>
                </a:solidFill>
              </a:rPr>
              <a:t>↕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4069080"/>
            <a:ext cx="10607040" cy="1097280"/>
          </a:xfrm>
          <a:prstGeom prst="rect">
            <a:avLst/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069080"/>
            <a:ext cx="1463040" cy="1097280"/>
          </a:xfrm>
          <a:prstGeom prst="rect">
            <a:avLst/>
          </a:prstGeom>
          <a:solidFill>
            <a:srgbClr val="B0D0DC">
              <a:alpha val="9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690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DATA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0" y="420624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42062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nova-2 ASR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26280" y="420624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42062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Claude 3 Haiku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420624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42062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Supabase PostgreSQL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06840" y="4206240"/>
            <a:ext cx="2057400" cy="822960"/>
          </a:xfrm>
          <a:prstGeom prst="rect">
            <a:avLst/>
          </a:prstGeom>
          <a:solidFill>
            <a:srgbClr val="FFFFFF">
              <a:alpha val="70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06840" y="42062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Policy RAG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5376672"/>
            <a:ext cx="10607040" cy="594360"/>
          </a:xfrm>
          <a:prstGeom prst="rect">
            <a:avLst/>
          </a:prstGeom>
          <a:solidFill>
            <a:srgbClr val="4D8FA8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394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Deployment: Vercel Serverless  ·  Gunicorn WSGI  ·  Docker-ready  ·  GitHub CI/CD  ·  /tmp/uploads (200MB)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389120"/>
            <a:ext cx="4114800" cy="320040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36576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-731520"/>
            <a:ext cx="2286000" cy="182880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1005840" cy="1005840"/>
          </a:xfrm>
          <a:prstGeom prst="ellipse">
            <a:avLst/>
          </a:prstGeom>
          <a:solidFill>
            <a:srgbClr val="B0D0DC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12471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651760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3401568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4015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4151376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1513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4901184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901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6.4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5650992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5650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3D Canvas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1005840" cy="1005840"/>
          </a:xfrm>
          <a:prstGeom prst="ellipse">
            <a:avLst/>
          </a:prstGeom>
          <a:solidFill>
            <a:srgbClr val="E8D5C4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12471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51760" y="2176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61488" y="2651760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61488" y="3401568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4015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61488" y="4151376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41513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61488" y="4901184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4901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61488" y="5650992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5650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WSGI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1097280"/>
            <a:ext cx="1005840" cy="1005840"/>
          </a:xfrm>
          <a:prstGeom prst="ellipse">
            <a:avLst/>
          </a:prstGeom>
          <a:solidFill>
            <a:srgbClr val="B0D0DC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96128" y="112471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937760" y="2176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47488" y="2651760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47488" y="3401568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34015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47488" y="4151376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41513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Haiku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47488" y="4901184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4901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(chat)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47488" y="5650992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5650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RAG engine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63840" y="1097280"/>
            <a:ext cx="1005840" cy="1005840"/>
          </a:xfrm>
          <a:prstGeom prst="ellipse">
            <a:avLst/>
          </a:prstGeom>
          <a:solidFill>
            <a:srgbClr val="E8D5C4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882128" y="112471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7223760" y="2176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333488" y="2651760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3488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dev)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33488" y="3401568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33488" y="34015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33488" y="4151376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41513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33488" y="4901184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33488" y="4901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Auto-schema creation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33488" y="5650992"/>
            <a:ext cx="2011680" cy="658368"/>
          </a:xfrm>
          <a:prstGeom prst="rect">
            <a:avLst/>
          </a:prstGeom>
          <a:solidFill>
            <a:srgbClr val="E8D5C4">
              <a:alpha val="45000"/>
            </a:srgbClr>
          </a:solidFill>
          <a:ln w="10160">
            <a:solidFill>
              <a:srgbClr val="E8D5C4">
                <a:alpha val="7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3488" y="5650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149840" y="1097280"/>
            <a:ext cx="1005840" cy="1005840"/>
          </a:xfrm>
          <a:prstGeom prst="ellipse">
            <a:avLst/>
          </a:prstGeom>
          <a:solidFill>
            <a:srgbClr val="B0D0DC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168128" y="1124712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9509760" y="2176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619488" y="2651760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19488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619488" y="3401568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19488" y="34015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619488" y="4151376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19488" y="41513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 image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619488" y="4901184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19488" y="49011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619488" y="5650992"/>
            <a:ext cx="2011680" cy="658368"/>
          </a:xfrm>
          <a:prstGeom prst="rect">
            <a:avLst/>
          </a:prstGeom>
          <a:solidFill>
            <a:srgbClr val="B0D0DC">
              <a:alpha val="45000"/>
            </a:srgbClr>
          </a:solidFill>
          <a:ln w="10160">
            <a:solidFill>
              <a:srgbClr val="B0D0DC">
                <a:alpha val="7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19488" y="5650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error retry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Dashboard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8686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agent's quality over time — data-driven coaching at 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5120640" cy="1188720"/>
          </a:xfrm>
          <a:prstGeom prst="rect">
            <a:avLst/>
          </a:prstGeom>
          <a:solidFill>
            <a:srgbClr val="F4FAFB"/>
          </a:solidFill>
          <a:ln w="15240">
            <a:solidFill>
              <a:srgbClr val="B0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71600"/>
            <a:ext cx="54864" cy="1188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53312" y="148132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Trend Chart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53312" y="1865376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showing agent's quality score trajectory over all calls — spot improvement or decline immediately.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5120640" cy="1188720"/>
          </a:xfrm>
          <a:prstGeom prst="rect">
            <a:avLst/>
          </a:prstGeom>
          <a:solidFill>
            <a:srgbClr val="F4FAFB"/>
          </a:solidFill>
          <a:ln w="15240">
            <a:solidFill>
              <a:srgbClr val="B0D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97480"/>
            <a:ext cx="54864" cy="1188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53312" y="280720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Performer Alert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3191256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Auto-identifies the highest-scoring agent per team. Recognition drives motivation and benchmarks for others.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5120640" cy="1188720"/>
          </a:xfrm>
          <a:prstGeom prst="rect">
            <a:avLst/>
          </a:prstGeom>
          <a:solidFill>
            <a:srgbClr val="F4FAFB"/>
          </a:solidFill>
          <a:ln w="15240">
            <a:solidFill>
              <a:srgbClr val="B0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23360"/>
            <a:ext cx="54864" cy="1188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53312" y="413308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517136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agents with high escalation rate or low compliance score — triggers coaching workflow automatically.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5120640" cy="1188720"/>
          </a:xfrm>
          <a:prstGeom prst="rect">
            <a:avLst/>
          </a:prstGeom>
          <a:solidFill>
            <a:srgbClr val="F4FAFB"/>
          </a:solidFill>
          <a:ln w="15240">
            <a:solidFill>
              <a:srgbClr val="B0D0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349240"/>
            <a:ext cx="54864" cy="1188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53312" y="545896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Call History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3312" y="5843016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listed with score, F1, sentiment, and escalation flag. Click to replay full transcript and analysis.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1371600"/>
            <a:ext cx="5212080" cy="5120640"/>
          </a:xfrm>
          <a:prstGeom prst="rect">
            <a:avLst/>
          </a:prstGeom>
          <a:solidFill>
            <a:srgbClr val="F4FAFB"/>
          </a:solidFill>
          <a:ln w="19050">
            <a:solidFill>
              <a:srgbClr val="B0D0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371600"/>
            <a:ext cx="5212080" cy="502920"/>
          </a:xfrm>
          <a:prstGeom prst="rect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389888"/>
            <a:ext cx="5120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Performance 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2011680"/>
            <a:ext cx="1005840" cy="1005840"/>
          </a:xfrm>
          <a:prstGeom prst="ellipse">
            <a:avLst/>
          </a:prstGeom>
          <a:solidFill>
            <a:srgbClr val="B0D0DC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SJ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29600" y="2011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 Jenkins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agent_001  ·  Support 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29400" y="3200400"/>
            <a:ext cx="1508760" cy="804672"/>
          </a:xfrm>
          <a:prstGeom prst="rect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32186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629400" y="36210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75320" y="3200400"/>
            <a:ext cx="1508760" cy="804672"/>
          </a:xfrm>
          <a:prstGeom prst="rect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32186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275320" y="36210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921240" y="3200400"/>
            <a:ext cx="1508760" cy="804672"/>
          </a:xfrm>
          <a:prstGeom prst="rect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921240" y="321868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921240" y="36210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2940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Trend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29400" y="4526280"/>
            <a:ext cx="48463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0D0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4965192"/>
            <a:ext cx="457200" cy="1024128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89520" y="4672584"/>
            <a:ext cx="457200" cy="1316736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21040" y="4892040"/>
            <a:ext cx="457200" cy="1097280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4643323"/>
            <a:ext cx="457200" cy="1345997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784080" y="4745736"/>
            <a:ext cx="457200" cy="1243584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0" y="4599432"/>
            <a:ext cx="457200" cy="1389888"/>
          </a:xfrm>
          <a:prstGeom prst="rect">
            <a:avLst/>
          </a:prstGeom>
          <a:solidFill>
            <a:srgbClr val="B0D0DC">
              <a:alpha val="7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200400" cy="274320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029200"/>
            <a:ext cx="2194560" cy="2011680"/>
          </a:xfrm>
          <a:prstGeom prst="ellipse">
            <a:avLst/>
          </a:prstGeom>
          <a:solidFill>
            <a:srgbClr val="B0D0D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Processing + Policy RAG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303520" cy="502920"/>
          </a:xfrm>
          <a:prstGeom prst="rect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69848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Batch 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1907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up to 500 files at once — drag and drop or click to browse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2257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mode or Multi-agent comparison mode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44368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with real-time progress bar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547872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295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table with all 10 metrics per 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151376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330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CSV  ·  JSON  ·  ZIP (all transcripts bundled)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201168" cy="201168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7365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success rate  ·  avg 1.2 seconds per 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051560"/>
            <a:ext cx="5303520" cy="502920"/>
          </a:xfrm>
          <a:prstGeom prst="rect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069848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Policy RAG Engine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1737360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71907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company policy docs in TXT or PDF format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2340864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32257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 with TF-IDF for semantic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944368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automatically checked against all policies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547872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5295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flagged with severity: Low / Medium / High / Critical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4151376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1330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endpoint — remove outdated policy docs anytime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4754880"/>
            <a:ext cx="201168" cy="201168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47365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search: ask policy questions in plain language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051560"/>
            <a:ext cx="0" cy="4572000"/>
          </a:xfrm>
          <a:prstGeom prst="line">
            <a:avLst/>
          </a:prstGeom>
          <a:noFill/>
          <a:ln w="15240">
            <a:solidFill>
              <a:srgbClr val="E8D5C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 &amp; AI Chatbot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Alert Center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Unparliamentary Language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3480" y="148132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32F2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81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97280" y="1792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Profanity or aggressive language detected in transcript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Quality 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22311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57C00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231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97280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call score fell below team threshold (e.g. &lt;6/10)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9626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Escalation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298094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97A7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9728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shifted from positive to negative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Violation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73075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097A7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9728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content conflicts with indexed company policy document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462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Empathy Score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44805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6BAA8A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empathy score below acceptable benchmark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⚪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7280" y="5212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Failure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523036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78909C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5230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97280" y="5541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or scoring pipeline encountered an error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66560" y="1005840"/>
            <a:ext cx="5029200" cy="5440680"/>
          </a:xfrm>
          <a:prstGeom prst="rect">
            <a:avLst/>
          </a:prstGeom>
          <a:solidFill>
            <a:srgbClr val="F4FAFB"/>
          </a:solidFill>
          <a:ln w="19050">
            <a:solidFill>
              <a:srgbClr val="B0D0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1005840"/>
            <a:ext cx="5029200" cy="548640"/>
          </a:xfrm>
          <a:prstGeom prst="rect">
            <a:avLst/>
          </a:prstGeom>
          <a:solidFill>
            <a:srgbClr val="B0D0DC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903720" y="1051560"/>
            <a:ext cx="457200" cy="457200"/>
          </a:xfrm>
          <a:prstGeom prst="ellipse">
            <a:avLst/>
          </a:prstGeom>
          <a:solidFill>
            <a:srgbClr val="4D8FA8">
              <a:alpha val="9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24928" y="10607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Criterion Assistant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24928" y="13167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Powered by Mistral 7B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03720" y="1691640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B0D0DC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976872" y="1737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Hi! Ask me anything about Criterion QA — features, troubleshooting, how to use batch, alerts, policies and more!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242316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8D5C4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571232" y="2468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analyze a call?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03720" y="2898648"/>
            <a:ext cx="4480560" cy="877824"/>
          </a:xfrm>
          <a:prstGeom prst="roundRect">
            <a:avLst>
              <a:gd name="adj" fmla="val 8333"/>
            </a:avLst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976872" y="2944368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MP3, M4A, WAV or TXT file in the Analyze tab, fill in Agent ID and Call Date, then click Analyze Call. Results appear in under 30 seconds!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98080" y="388620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8D5C4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571232" y="39319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F1 Score mean?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03720" y="4361688"/>
            <a:ext cx="4480560" cy="877824"/>
          </a:xfrm>
          <a:prstGeom prst="roundRect">
            <a:avLst>
              <a:gd name="adj" fmla="val 8333"/>
            </a:avLst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976872" y="4407408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is the harmonic mean of Precision and Recall — it balances proficiency with resolution effectiveness. Higher = better overall quality. Range: 0.0 to 1.0 (shown as %)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389120"/>
            <a:ext cx="4114800" cy="320040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36576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-731520"/>
            <a:ext cx="2286000" cy="182880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39496"/>
            <a:ext cx="548640" cy="384048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462686"/>
            <a:ext cx="768096" cy="537667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10544" y="385877"/>
            <a:ext cx="987552" cy="691286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00816" y="309067"/>
            <a:ext cx="1207008" cy="844906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Live Demo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4846320" cy="384048"/>
          </a:xfrm>
          <a:prstGeom prst="roundRect">
            <a:avLst>
              <a:gd name="adj" fmla="val 23810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914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Follow along at http://localhost:5000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508760"/>
            <a:ext cx="5394960" cy="1261872"/>
          </a:xfrm>
          <a:prstGeom prst="rect">
            <a:avLst/>
          </a:prstGeom>
          <a:solidFill>
            <a:srgbClr val="4D8FA8">
              <a:alpha val="35000"/>
            </a:srgbClr>
          </a:solidFill>
          <a:ln w="1270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508760"/>
            <a:ext cx="5394960" cy="54864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636776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1636776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16367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a Real Audio Call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2075688"/>
            <a:ext cx="5166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call_log_2.m4a file (Martha's Florist). Watch Deepgram transcribe with Agent/Customer speaker labels and timestamps.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5394960" cy="1261872"/>
          </a:xfrm>
          <a:prstGeom prst="rect">
            <a:avLst/>
          </a:prstGeom>
          <a:solidFill>
            <a:srgbClr val="C9846B">
              <a:alpha val="35000"/>
            </a:srgbClr>
          </a:solidFill>
          <a:ln w="12700">
            <a:solidFill>
              <a:srgbClr val="C984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08760"/>
            <a:ext cx="5394960" cy="54864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1636776"/>
            <a:ext cx="347472" cy="347472"/>
          </a:xfrm>
          <a:prstGeom prst="ellipse">
            <a:avLst/>
          </a:prstGeom>
          <a:solidFill>
            <a:srgbClr val="C984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1636776"/>
            <a:ext cx="347472" cy="347472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4848" y="16367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Quality Scores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2075688"/>
            <a:ext cx="5166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10 metrics scored in real-time — radar chart, bar chart, F1 gauge. Click each metric card for detailed reasoning.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898648"/>
            <a:ext cx="5394960" cy="1261872"/>
          </a:xfrm>
          <a:prstGeom prst="rect">
            <a:avLst/>
          </a:prstGeom>
          <a:solidFill>
            <a:srgbClr val="4D8FA8">
              <a:alpha val="35000"/>
            </a:srgbClr>
          </a:solidFill>
          <a:ln w="1270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898648"/>
            <a:ext cx="5394960" cy="54864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026664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026664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302666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 Agent Dashboard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" y="3465576"/>
            <a:ext cx="5166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Agents tab → select an agent card → view score trend, metric breakdown, and complete call history table.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898648"/>
            <a:ext cx="5394960" cy="1261872"/>
          </a:xfrm>
          <a:prstGeom prst="rect">
            <a:avLst/>
          </a:prstGeom>
          <a:solidFill>
            <a:srgbClr val="C9846B">
              <a:alpha val="35000"/>
            </a:srgbClr>
          </a:solidFill>
          <a:ln w="12700">
            <a:solidFill>
              <a:srgbClr val="C9846B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898648"/>
            <a:ext cx="5394960" cy="54864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3026664"/>
            <a:ext cx="347472" cy="347472"/>
          </a:xfrm>
          <a:prstGeom prst="ellipse">
            <a:avLst/>
          </a:prstGeom>
          <a:solidFill>
            <a:srgbClr val="C984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27648" y="3026664"/>
            <a:ext cx="347472" cy="347472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84848" y="302666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 Multiple Calls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55080" y="3465576"/>
            <a:ext cx="5166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Batch tab → upload 3–5 files → watch progress bar → download CSV report of all results.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4773168"/>
            <a:ext cx="5394960" cy="1207008"/>
          </a:xfrm>
          <a:prstGeom prst="rect">
            <a:avLst/>
          </a:prstGeom>
          <a:solidFill>
            <a:srgbClr val="4D8FA8">
              <a:alpha val="35000"/>
            </a:srgbClr>
          </a:solidFill>
          <a:ln w="1270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4773168"/>
            <a:ext cx="5394960" cy="54864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42" name="Text 40"/>
          <p:cNvSpPr/>
          <p:nvPr/>
        </p:nvSpPr>
        <p:spPr>
          <a:xfrm>
            <a:off x="3493008" y="4901184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93008" y="4901184"/>
            <a:ext cx="347472" cy="347472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44" name="Text 42"/>
          <p:cNvSpPr/>
          <p:nvPr/>
        </p:nvSpPr>
        <p:spPr>
          <a:xfrm>
            <a:off x="3493008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50208" y="490118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the AI Chatbot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520440" y="5340096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🤖 button (bottom-right) → ask 'What is the F1 score?' → see Mistral respond with platform knowledge.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Impact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877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from Criterion QA across all sprint deliverables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2194560" cy="219456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73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417320"/>
            <a:ext cx="2194560" cy="2194560"/>
          </a:xfrm>
          <a:prstGeom prst="ellipse">
            <a:avLst/>
          </a:prstGeom>
          <a:solidFill>
            <a:srgbClr val="E8D5C4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673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2194560" cy="219456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73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675120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at Once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0" y="1417320"/>
            <a:ext cx="2194560" cy="2194560"/>
          </a:xfrm>
          <a:prstGeom prst="ellipse">
            <a:avLst/>
          </a:prstGeom>
          <a:solidFill>
            <a:srgbClr val="E8D5C4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1673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692640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2194560" cy="219456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935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337560"/>
            <a:ext cx="2194560" cy="2194560"/>
          </a:xfrm>
          <a:prstGeom prst="ellipse">
            <a:avLst/>
          </a:prstGeom>
          <a:solidFill>
            <a:srgbClr val="E8D5C4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5935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365760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3337560"/>
            <a:ext cx="2194560" cy="219456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5935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67512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0" y="3337560"/>
            <a:ext cx="2194560" cy="2194560"/>
          </a:xfrm>
          <a:prstGeom prst="ellipse">
            <a:avLst/>
          </a:prstGeom>
          <a:solidFill>
            <a:srgbClr val="E8D5C4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35935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69264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5623560"/>
            <a:ext cx="9418320" cy="804672"/>
          </a:xfrm>
          <a:prstGeom prst="roundRect">
            <a:avLst>
              <a:gd name="adj" fmla="val 13636"/>
            </a:avLst>
          </a:prstGeom>
          <a:solidFill>
            <a:srgbClr val="B0D0DC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63040" y="5650992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"Criterion QA turns every customer support call into a coaching opportunity — automatically, at scale, with zero manual effort."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200400" cy="274320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029200"/>
            <a:ext cx="2194560" cy="2011680"/>
          </a:xfrm>
          <a:prstGeom prst="ellipse">
            <a:avLst/>
          </a:prstGeom>
          <a:solidFill>
            <a:srgbClr val="B0D0D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Development Journey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17 – Mar 26, 2026  ·  6 Sprints  ·  164 Story Points  ·  1 Developer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25400">
            <a:solidFill>
              <a:srgbClr val="4D8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20240"/>
            <a:ext cx="0" cy="822960"/>
          </a:xfrm>
          <a:prstGeom prst="line">
            <a:avLst/>
          </a:prstGeom>
          <a:noFill/>
          <a:ln w="15240">
            <a:solidFill>
              <a:srgbClr val="4D8F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58952" y="2542032"/>
            <a:ext cx="402336" cy="402336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1143000"/>
            <a:ext cx="1691640" cy="1481328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1143000"/>
            <a:ext cx="1691640" cy="45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234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Pipeline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15819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17-21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" y="18288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SDK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88920" y="2743200"/>
            <a:ext cx="0" cy="347472"/>
          </a:xfrm>
          <a:prstGeom prst="line">
            <a:avLst/>
          </a:prstGeom>
          <a:noFill/>
          <a:ln w="15240">
            <a:solidFill>
              <a:srgbClr val="C9846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87752" y="2542032"/>
            <a:ext cx="402336" cy="402336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18" name="Text 16"/>
          <p:cNvSpPr/>
          <p:nvPr/>
        </p:nvSpPr>
        <p:spPr>
          <a:xfrm>
            <a:off x="25877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3063240"/>
            <a:ext cx="1691640" cy="187452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C9846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3063240"/>
            <a:ext cx="1691640" cy="45720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3154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Scoring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57400" y="35021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8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22-26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57400" y="37490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metrics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calc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1920240"/>
            <a:ext cx="0" cy="822960"/>
          </a:xfrm>
          <a:prstGeom prst="line">
            <a:avLst/>
          </a:prstGeom>
          <a:noFill/>
          <a:ln w="15240">
            <a:solidFill>
              <a:srgbClr val="4D8F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16552" y="2542032"/>
            <a:ext cx="402336" cy="402336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143000"/>
            <a:ext cx="1691640" cy="1481328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1143000"/>
            <a:ext cx="1691640" cy="45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29" name="Text 27"/>
          <p:cNvSpPr/>
          <p:nvPr/>
        </p:nvSpPr>
        <p:spPr>
          <a:xfrm>
            <a:off x="3886200" y="1234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86200" y="15819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27-Mar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86200" y="18288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46520" y="2743200"/>
            <a:ext cx="0" cy="347472"/>
          </a:xfrm>
          <a:prstGeom prst="line">
            <a:avLst/>
          </a:prstGeom>
          <a:noFill/>
          <a:ln w="15240">
            <a:solidFill>
              <a:srgbClr val="C9846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45352" y="2542032"/>
            <a:ext cx="402336" cy="402336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34" name="Text 32"/>
          <p:cNvSpPr/>
          <p:nvPr/>
        </p:nvSpPr>
        <p:spPr>
          <a:xfrm>
            <a:off x="62453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23560" y="3063240"/>
            <a:ext cx="1691640" cy="187452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C9846B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3063240"/>
            <a:ext cx="1691640" cy="45720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0" y="3154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+ RAG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15000" y="35021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8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5-12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00" y="37490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500-file batch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75320" y="1920240"/>
            <a:ext cx="0" cy="822960"/>
          </a:xfrm>
          <a:prstGeom prst="line">
            <a:avLst/>
          </a:prstGeom>
          <a:noFill/>
          <a:ln w="15240">
            <a:solidFill>
              <a:srgbClr val="4D8FA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074152" y="2542032"/>
            <a:ext cx="402336" cy="402336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42" name="Text 40"/>
          <p:cNvSpPr/>
          <p:nvPr/>
        </p:nvSpPr>
        <p:spPr>
          <a:xfrm>
            <a:off x="80741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52360" y="1143000"/>
            <a:ext cx="1691640" cy="1481328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1143000"/>
            <a:ext cx="1691640" cy="4572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45" name="Text 43"/>
          <p:cNvSpPr/>
          <p:nvPr/>
        </p:nvSpPr>
        <p:spPr>
          <a:xfrm>
            <a:off x="7543800" y="1234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+ Chatbot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43800" y="15819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13-20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43800" y="18288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elements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bot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104120" y="2743200"/>
            <a:ext cx="0" cy="347472"/>
          </a:xfrm>
          <a:prstGeom prst="line">
            <a:avLst/>
          </a:prstGeom>
          <a:noFill/>
          <a:ln w="15240">
            <a:solidFill>
              <a:srgbClr val="C9846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9902952" y="2542032"/>
            <a:ext cx="402336" cy="402336"/>
          </a:xfrm>
          <a:prstGeom prst="ellipse">
            <a:avLst/>
          </a:prstGeom>
          <a:solidFill>
            <a:srgbClr val="C9846B"/>
          </a:solidFill>
          <a:ln/>
        </p:spPr>
      </p:sp>
      <p:sp>
        <p:nvSpPr>
          <p:cNvPr id="50" name="Text 48"/>
          <p:cNvSpPr/>
          <p:nvPr/>
        </p:nvSpPr>
        <p:spPr>
          <a:xfrm>
            <a:off x="99029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81160" y="3063240"/>
            <a:ext cx="1691640" cy="187452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C9846B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81160" y="3063240"/>
            <a:ext cx="1691640" cy="45720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53" name="Text 51"/>
          <p:cNvSpPr/>
          <p:nvPr/>
        </p:nvSpPr>
        <p:spPr>
          <a:xfrm>
            <a:off x="9372600" y="3154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+ Docs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372600" y="35021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8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21-26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372600" y="37490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4400" y="5989320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B0D0DC">
              <a:alpha val="4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" y="6007608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Velocity:  S1: 22pts  ·  S2: 26pts  ·  S3: 30pts  ·  S4: 34pts  ·  S5: 32pts  ·  S6: 20pts  ·  TOTAL: 164 pts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2852928"/>
            <a:ext cx="1645920" cy="1152144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28616" y="2622499"/>
            <a:ext cx="2304288" cy="1613002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392070"/>
            <a:ext cx="2962656" cy="2073859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2161642"/>
            <a:ext cx="3621024" cy="2534717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2743200" cy="274320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058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You!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9418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Criterion QA — Turning every call into a coaching opportunity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46227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B0D0DC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Developer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Rameshwar Pawar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446227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E8D5C4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Institution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Internship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446227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B0D0DC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Email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rameshwarsp7900@gmail.com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2520" y="4462272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E8D5C4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🐙 GitHub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3252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github.com/Rameshwarsp7900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0" y="5669280"/>
            <a:ext cx="6309360" cy="621792"/>
          </a:xfrm>
          <a:prstGeom prst="roundRect">
            <a:avLst>
              <a:gd name="adj" fmla="val 17647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5687568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🙋 Questions &amp; Discussion — 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6359652"/>
            <a:ext cx="640080" cy="448056"/>
          </a:xfrm>
          <a:prstGeom prst="ellipse">
            <a:avLst/>
          </a:prstGeom>
          <a:ln w="15240">
            <a:solidFill>
              <a:srgbClr val="C9846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81944" y="6270041"/>
            <a:ext cx="896112" cy="627278"/>
          </a:xfrm>
          <a:prstGeom prst="ellipse">
            <a:avLst/>
          </a:prstGeom>
          <a:ln w="15240">
            <a:solidFill>
              <a:srgbClr val="C9846B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53928" y="6180430"/>
            <a:ext cx="1152144" cy="806501"/>
          </a:xfrm>
          <a:prstGeom prst="ellipse">
            <a:avLst/>
          </a:prstGeom>
          <a:ln w="15240">
            <a:solidFill>
              <a:srgbClr val="C9846B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25912" y="6090818"/>
            <a:ext cx="1408176" cy="985723"/>
          </a:xfrm>
          <a:prstGeom prst="ellipse">
            <a:avLst/>
          </a:prstGeom>
          <a:ln w="15240">
            <a:solidFill>
              <a:srgbClr val="C9846B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64592"/>
            <a:ext cx="1920240" cy="1920240"/>
          </a:xfrm>
          <a:prstGeom prst="ellipse">
            <a:avLst/>
          </a:prstGeom>
          <a:solidFill>
            <a:srgbClr val="E8D5C4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"/>
            <a:ext cx="19202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Transcription &amp; Analytics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29718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 — processing 2-hour calls in under 10 seconds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767328"/>
            <a:ext cx="658368" cy="658368"/>
          </a:xfrm>
          <a:prstGeom prst="ellipse">
            <a:avLst/>
          </a:prstGeom>
          <a:solidFill>
            <a:srgbClr val="C9846B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67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10 Second SLA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09651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call, any length — results in under 10 seconds via parallel chunk processing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956048"/>
            <a:ext cx="658368" cy="658368"/>
          </a:xfrm>
          <a:prstGeom prst="ellipse">
            <a:avLst/>
          </a:prstGeom>
          <a:solidFill>
            <a:srgbClr val="C9846B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56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4956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52852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transcription — score as the call is still happening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767328"/>
            <a:ext cx="658368" cy="658368"/>
          </a:xfrm>
          <a:prstGeom prst="ellipse">
            <a:avLst/>
          </a:prstGeom>
          <a:solidFill>
            <a:srgbClr val="C9846B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767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Event Bus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409651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handles thousands of concurrent calls with at-least-once guarantees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658368" cy="658368"/>
          </a:xfrm>
          <a:prstGeom prst="ellipse">
            <a:avLst/>
          </a:prstGeom>
          <a:solidFill>
            <a:srgbClr val="C9846B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4956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4956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Multi-Region Deploy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52852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 multi-region failover — 99.9% uptime SLA for enterprise customers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731520"/>
            <a:ext cx="3200400" cy="274320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572000"/>
            <a:ext cx="27432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029200"/>
            <a:ext cx="2194560" cy="2011680"/>
          </a:xfrm>
          <a:prstGeom prst="ellipse">
            <a:avLst/>
          </a:prstGeom>
          <a:solidFill>
            <a:srgbClr val="B0D0D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chunk processing with Kafka event bus achieves &lt;10 second end-to-end latency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737360" cy="1371600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(Upload)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737360" cy="137160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317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3063240"/>
            <a:ext cx="1737360" cy="1371600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3172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Store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1737360" cy="137160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768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3063240"/>
            <a:ext cx="1737360" cy="1371600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1417320"/>
            <a:ext cx="2011680" cy="137160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ASR Workers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(×N parallel)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3063240"/>
            <a:ext cx="2011680" cy="1371600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1417320"/>
            <a:ext cx="1737360" cy="137160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03920" y="3063240"/>
            <a:ext cx="1737360" cy="1371600"/>
          </a:xfrm>
          <a:prstGeom prst="rect">
            <a:avLst/>
          </a:prstGeom>
          <a:solidFill>
            <a:srgbClr val="B0D0DC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0392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69880" y="1417320"/>
            <a:ext cx="1554480" cy="3017520"/>
          </a:xfrm>
          <a:prstGeom prst="rect">
            <a:avLst/>
          </a:prstGeom>
          <a:solidFill>
            <a:srgbClr val="E8D5C4">
              <a:alpha val="55000"/>
            </a:srgbClr>
          </a:solidFill>
          <a:ln w="10160">
            <a:solidFill>
              <a:srgbClr val="4D8FA8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988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469880" y="201168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API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1975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69080" y="1975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5040" y="1975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75320" y="1975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41280" y="1975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8FA8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" y="4681728"/>
            <a:ext cx="11247120" cy="1536192"/>
          </a:xfrm>
          <a:prstGeom prst="roundRect">
            <a:avLst>
              <a:gd name="adj" fmla="val 7143"/>
            </a:avLst>
          </a:prstGeom>
          <a:solidFill>
            <a:srgbClr val="E8D5C4">
              <a:alpha val="4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Timeline for a 2-hour call: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first 10s chunk: 0.5s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6888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47" name="Text 45"/>
          <p:cNvSpPr/>
          <p:nvPr/>
        </p:nvSpPr>
        <p:spPr>
          <a:xfrm>
            <a:off x="269748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chunk transcribed: 1.5s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4340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chunks parallel: 5s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merged: 0.5s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9244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2s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966960" y="5120640"/>
            <a:ext cx="182880" cy="182880"/>
          </a:xfrm>
          <a:prstGeom prst="ellipse">
            <a:avLst/>
          </a:prstGeom>
          <a:solidFill>
            <a:srgbClr val="4D8FA8"/>
          </a:solidFill>
          <a:ln/>
        </p:spPr>
      </p:sp>
      <p:sp>
        <p:nvSpPr>
          <p:cNvPr id="55" name="Text 53"/>
          <p:cNvSpPr/>
          <p:nvPr/>
        </p:nvSpPr>
        <p:spPr>
          <a:xfrm>
            <a:off x="10195560" y="5074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9.5s ✓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Pipeline &amp; Parallel Processing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Apache Kafka Event Bus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54480"/>
            <a:ext cx="54864" cy="77724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91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Topic: call.uploaded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83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stored in S3 → triggers transcription pipeline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68880"/>
            <a:ext cx="54864" cy="77724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Topic: call.transcribed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798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merged → triggers LLM scoring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383280"/>
            <a:ext cx="54864" cy="77724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Topic: call.analyzed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712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stored → triggers aggregation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297680"/>
            <a:ext cx="54864" cy="77724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34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Topic: call.alert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26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detected → triggers notification channels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1005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Parallel Chunk Processing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2240" y="1508760"/>
            <a:ext cx="5303520" cy="3520440"/>
          </a:xfrm>
          <a:prstGeom prst="rect">
            <a:avLst/>
          </a:prstGeom>
          <a:solidFill>
            <a:srgbClr val="F8F4F0"/>
          </a:solidFill>
          <a:ln w="15240">
            <a:solidFill>
              <a:srgbClr val="E8D5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1600200"/>
            <a:ext cx="51206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2-hour call → 720 chunks of 10s each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ThreadPoolExecutor(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max_workers=100) as pool: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pool.submit(transcribe,chunk,i): 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chunk in enumerate(chunks)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future in as_completed(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futures, timeout=8):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results.append(future.result())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in correct 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 = merge_sorted(results)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Total time: ~5s for 720 chunks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10972800" cy="1207008"/>
          </a:xfrm>
          <a:prstGeom prst="rect">
            <a:avLst/>
          </a:prstGeom>
          <a:solidFill>
            <a:srgbClr val="E8D5C4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492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3-Tier Auto-Scaling Strategy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3328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0–500 queue  →  +2 pods / 30s cooldown  (On-demand)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43400" y="571500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E8D5C4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73328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500–1000 queue  →  +10 spot instances immediately  (Spot (70% cheaper))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01000" y="571500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5733288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&gt;1000 queue  →  +20 reserved + load shedding  (Reserved (guaranteed))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389120"/>
            <a:ext cx="4114800" cy="320040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457200"/>
            <a:ext cx="3657600" cy="274320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-731520"/>
            <a:ext cx="2286000" cy="1828800"/>
          </a:xfrm>
          <a:prstGeom prst="ellipse">
            <a:avLst/>
          </a:prstGeom>
          <a:solidFill>
            <a:srgbClr val="B0D0D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Storage &amp; REST API Design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 Multi-Layer Storage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303520" cy="1097280"/>
          </a:xfrm>
          <a:prstGeom prst="rect">
            <a:avLst/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54864" cy="109728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54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DynamoDB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(Metadata)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call_id, agent_id, status, S3 path. 90-day TTL. Partition key = call_id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5303520" cy="1097280"/>
          </a:xfrm>
          <a:prstGeom prst="rect">
            <a:avLst/>
          </a:prstGeom>
          <a:solidFill>
            <a:srgbClr val="E8D5C4">
              <a:alpha val="50000"/>
            </a:srgbClr>
          </a:solidFill>
          <a:ln w="10160">
            <a:solidFill>
              <a:srgbClr val="C9846B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43200"/>
            <a:ext cx="54864" cy="1097280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Cassandra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(Transcripts)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788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segments with speaker labels, confidence scores, timestamps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03520" cy="1097280"/>
          </a:xfrm>
          <a:prstGeom prst="rect">
            <a:avLst/>
          </a:prstGeom>
          <a:solidFill>
            <a:srgbClr val="B0D0DC">
              <a:alpha val="50000"/>
            </a:srgbClr>
          </a:solidFill>
          <a:ln w="10160">
            <a:solidFill>
              <a:srgbClr val="4D8FA8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77640"/>
            <a:ext cx="54864" cy="1097280"/>
          </a:xfrm>
          <a:prstGeom prst="rect">
            <a:avLst/>
          </a:prstGeom>
          <a:solidFill>
            <a:srgbClr val="4D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23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(Analytics)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4023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timeline, keyword hits, daily summaries, agent aggregations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5303520" cy="1097280"/>
          </a:xfrm>
          <a:prstGeom prst="rect">
            <a:avLst/>
          </a:prstGeom>
          <a:solidFill>
            <a:srgbClr val="E8D5C4">
              <a:alpha val="50000"/>
            </a:srgbClr>
          </a:solidFill>
          <a:ln w="10160">
            <a:solidFill>
              <a:srgbClr val="C9846B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12080"/>
            <a:ext cx="54864" cy="1097280"/>
          </a:xfrm>
          <a:prstGeom prst="rect">
            <a:avLst/>
          </a:prstGeom>
          <a:solidFill>
            <a:srgbClr val="C9846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57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Cache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(Status)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 status (0-100%). 24hr TTL. Sub-millisecond reads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0058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REST API Endpoints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5303520" cy="548640"/>
          </a:xfrm>
          <a:prstGeom prst="rect">
            <a:avLst/>
          </a:prstGeom>
          <a:solidFill>
            <a:srgbClr val="B0D0DC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15361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6948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1828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audio + metadata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2130552"/>
            <a:ext cx="5303520" cy="548640"/>
          </a:xfrm>
          <a:prstGeom prst="rect">
            <a:avLst/>
          </a:prstGeom>
          <a:solidFill>
            <a:srgbClr val="E8D5C4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215798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6BAA8A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1579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69480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/calls/{id}/status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2450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processing state (0–100%)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2752344"/>
            <a:ext cx="5303520" cy="548640"/>
          </a:xfrm>
          <a:prstGeom prst="rect">
            <a:avLst/>
          </a:prstGeom>
          <a:solidFill>
            <a:srgbClr val="B0D0DC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277977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6BAA8A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27797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269480" y="2779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/calls/{id}/transcript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0" y="30723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 with timestamps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0" y="3374136"/>
            <a:ext cx="5303520" cy="548640"/>
          </a:xfrm>
          <a:prstGeom prst="rect">
            <a:avLst/>
          </a:prstGeom>
          <a:solidFill>
            <a:srgbClr val="E8D5C4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340156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6BAA8A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4015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6948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/calls/{id}/analytics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0" y="36941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keyword hits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00800" y="3995928"/>
            <a:ext cx="5303520" cy="548640"/>
          </a:xfrm>
          <a:prstGeom prst="rect">
            <a:avLst/>
          </a:prstGeom>
          <a:solidFill>
            <a:srgbClr val="B0D0DC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46520" y="402336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6BAA8A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4023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69480" y="4023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/analytics/summary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00800" y="4315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 by agent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0" y="4617720"/>
            <a:ext cx="5303520" cy="548640"/>
          </a:xfrm>
          <a:prstGeom prst="rect">
            <a:avLst/>
          </a:prstGeom>
          <a:solidFill>
            <a:srgbClr val="E8D5C4">
              <a:alpha val="3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46520" y="464515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4645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26948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/api/chatbot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00800" y="49377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assistant response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0800" y="5239512"/>
            <a:ext cx="5303520" cy="548640"/>
          </a:xfrm>
          <a:prstGeom prst="rect">
            <a:avLst/>
          </a:prstGeom>
          <a:solidFill>
            <a:srgbClr val="B0D0DC">
              <a:alpha val="3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46520" y="526694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46520" y="5266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269480" y="5266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/api/policy/upload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00800" y="55595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policy document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400800" y="5861304"/>
            <a:ext cx="5303520" cy="548640"/>
          </a:xfrm>
          <a:prstGeom prst="rect">
            <a:avLst/>
          </a:prstGeom>
          <a:solidFill>
            <a:srgbClr val="E8D5C4">
              <a:alpha val="3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46520" y="58887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C62828">
              <a:alpha val="8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58887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69480" y="5888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/api/policy/{id}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00800" y="61813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indexed policy doc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822960"/>
            <a:ext cx="3474720" cy="2926080"/>
          </a:xfrm>
          <a:prstGeom prst="ellipse">
            <a:avLst/>
          </a:prstGeom>
          <a:solidFill>
            <a:srgbClr val="B0D0D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548640"/>
            <a:ext cx="2926080" cy="2377440"/>
          </a:xfrm>
          <a:prstGeom prst="ellipse">
            <a:avLst/>
          </a:prstGeom>
          <a:solidFill>
            <a:srgbClr val="E8D5C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754880"/>
            <a:ext cx="2560320" cy="2560320"/>
          </a:xfrm>
          <a:prstGeom prst="ellipse">
            <a:avLst/>
          </a:prstGeom>
          <a:solidFill>
            <a:srgbClr val="B0D0D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5303520"/>
            <a:ext cx="2011680" cy="1828800"/>
          </a:xfrm>
          <a:prstGeom prst="ellipse">
            <a:avLst/>
          </a:prstGeom>
          <a:solidFill>
            <a:srgbClr val="E8D5C4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743200"/>
            <a:ext cx="2286000" cy="914400"/>
          </a:xfrm>
          <a:prstGeom prst="ellipse">
            <a:avLst/>
          </a:prstGeom>
          <a:solidFill>
            <a:srgbClr val="B0D0D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6391656"/>
            <a:ext cx="548640" cy="384048"/>
          </a:xfrm>
          <a:prstGeom prst="ellipse">
            <a:avLst/>
          </a:prstGeom>
          <a:ln w="15240">
            <a:solidFill>
              <a:srgbClr val="4D8FA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" y="6314846"/>
            <a:ext cx="768096" cy="537667"/>
          </a:xfrm>
          <a:prstGeom prst="ellipse">
            <a:avLst/>
          </a:prstGeom>
          <a:ln w="15240">
            <a:solidFill>
              <a:srgbClr val="4D8FA8">
                <a:alpha val="4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36576" y="6238037"/>
            <a:ext cx="987552" cy="691286"/>
          </a:xfrm>
          <a:prstGeom prst="ellipse">
            <a:avLst/>
          </a:prstGeom>
          <a:ln w="15240">
            <a:solidFill>
              <a:srgbClr val="4D8FA8">
                <a:alpha val="3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46304" y="6161227"/>
            <a:ext cx="1207008" cy="844906"/>
          </a:xfrm>
          <a:prstGeom prst="ellipse">
            <a:avLst/>
          </a:prstGeom>
          <a:ln w="15240">
            <a:solidFill>
              <a:srgbClr val="4D8FA8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Platform Roadmap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71600" y="868680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evolution from Criterion QA v1 to enterprise-grade real-time analytics platform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89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17627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0D0DC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Goal: 10s SLA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81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WebSocket-based live transcription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39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 10 second end-to-end latency SLA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379976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3982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Parallel chunk processing (100 workers)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5038344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50566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Streaming sentiment analytics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5696712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715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dashboard WebSocket updates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13716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C9846B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1389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217627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E8D5C4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Goal: 1K calls/day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2596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+ Scale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063240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3081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Apache Kafka 3-broker cluster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83280" y="3721608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3739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1,000+ concurrent calls/day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83280" y="4379976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43982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Kubernetes HPA auto-scaling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83280" y="5038344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50566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DLQ for permanent failures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83280" y="5696712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5715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Multi-region S3 audio storage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13716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4D8FA8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1389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75120" y="217627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0D0DC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Goal: 99.9% SLA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2596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Analytics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09360" y="3063240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3081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Cassandra transcript storage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721608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739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TimescaleDB for time-series metrics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4379976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43982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Elasticsearch full-text search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5038344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50566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CSAT scoring (ML model)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9360" y="5696712"/>
            <a:ext cx="2560320" cy="585216"/>
          </a:xfrm>
          <a:prstGeom prst="rect">
            <a:avLst/>
          </a:prstGeom>
          <a:solidFill>
            <a:srgbClr val="B0D0DC">
              <a:alpha val="45000"/>
            </a:srgbClr>
          </a:solidFill>
          <a:ln w="7620">
            <a:solidFill>
              <a:srgbClr val="4D8FA8">
                <a:alpha val="4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5715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Multi-tenant organisation support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144000" y="13716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C9846B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0" y="1389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2027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601200" y="217627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E8D5C4">
              <a:alpha val="8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60120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Goal: Zero manual QA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144000" y="2596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Coach Platform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235440" y="3063240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3081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Personalised agent coaching reports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235440" y="3721608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08592" y="3739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Voice tone &amp; emotion analysis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235440" y="4379976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08592" y="43982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Telephony integration (Twilio, NICE)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235440" y="5038344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08592" y="50566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supervisor whisper coach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235440" y="5696712"/>
            <a:ext cx="2560320" cy="585216"/>
          </a:xfrm>
          <a:prstGeom prst="rect">
            <a:avLst/>
          </a:prstGeom>
          <a:solidFill>
            <a:srgbClr val="E8D5C4">
              <a:alpha val="45000"/>
            </a:srgbClr>
          </a:solidFill>
          <a:ln w="7620">
            <a:solidFill>
              <a:srgbClr val="C9846B">
                <a:alpha val="4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08592" y="5715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GPT-4 powered coaching feedback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645920" y="6428232"/>
            <a:ext cx="8869680" cy="438912"/>
          </a:xfrm>
          <a:prstGeom prst="roundRect">
            <a:avLst>
              <a:gd name="adj" fmla="val 20833"/>
            </a:avLst>
          </a:prstGeom>
          <a:solidFill>
            <a:srgbClr val="4D8FA8">
              <a:alpha val="7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691640" y="6437376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From Criterion QA v1 to the industry's fastest customer support intelligence platform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Criterion QA — AI Customer Support Quality Auditor</dc:title>
  <dc:subject>PptxGenJS Presentation</dc:subject>
  <dc:creator>Rameshwar Pawar</dc:creator>
  <cp:lastModifiedBy>Rameshwar Pawar</cp:lastModifiedBy>
  <cp:revision>1</cp:revision>
  <dcterms:created xsi:type="dcterms:W3CDTF">2026-03-26T03:02:47Z</dcterms:created>
  <dcterms:modified xsi:type="dcterms:W3CDTF">2026-03-26T03:02:47Z</dcterms:modified>
</cp:coreProperties>
</file>